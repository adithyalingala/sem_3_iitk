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7" r:id="rId2"/>
    <p:sldId id="318" r:id="rId3"/>
    <p:sldId id="339" r:id="rId4"/>
    <p:sldId id="329" r:id="rId5"/>
    <p:sldId id="330" r:id="rId6"/>
    <p:sldId id="347" r:id="rId7"/>
    <p:sldId id="341" r:id="rId8"/>
    <p:sldId id="342" r:id="rId9"/>
    <p:sldId id="333" r:id="rId10"/>
    <p:sldId id="335" r:id="rId11"/>
    <p:sldId id="343" r:id="rId12"/>
    <p:sldId id="348" r:id="rId13"/>
    <p:sldId id="336" r:id="rId14"/>
    <p:sldId id="346" r:id="rId15"/>
    <p:sldId id="345" r:id="rId16"/>
    <p:sldId id="349" r:id="rId17"/>
    <p:sldId id="338" r:id="rId18"/>
    <p:sldId id="354" r:id="rId19"/>
    <p:sldId id="353" r:id="rId20"/>
    <p:sldId id="351" r:id="rId21"/>
  </p:sldIdLst>
  <p:sldSz cx="12188825" cy="6858000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4030">
          <p15:clr>
            <a:srgbClr val="A4A3A4"/>
          </p15:clr>
        </p15:guide>
        <p15:guide id="3" orient="horz" pos="1152">
          <p15:clr>
            <a:srgbClr val="A4A3A4"/>
          </p15:clr>
        </p15:guide>
        <p15:guide id="4" orient="horz" pos="1018">
          <p15:clr>
            <a:srgbClr val="A4A3A4"/>
          </p15:clr>
        </p15:guide>
        <p15:guide id="5" orient="horz" pos="3886">
          <p15:clr>
            <a:srgbClr val="A4A3A4"/>
          </p15:clr>
        </p15:guide>
        <p15:guide id="6" orient="horz" pos="2928">
          <p15:clr>
            <a:srgbClr val="A4A3A4"/>
          </p15:clr>
        </p15:guide>
        <p15:guide id="7" orient="horz" pos="3072">
          <p15:clr>
            <a:srgbClr val="A4A3A4"/>
          </p15:clr>
        </p15:guide>
        <p15:guide id="8" orient="horz" pos="407">
          <p15:clr>
            <a:srgbClr val="A4A3A4"/>
          </p15:clr>
        </p15:guide>
        <p15:guide id="9" pos="3839">
          <p15:clr>
            <a:srgbClr val="A4A3A4"/>
          </p15:clr>
        </p15:guide>
        <p15:guide id="10" pos="959">
          <p15:clr>
            <a:srgbClr val="A4A3A4"/>
          </p15:clr>
        </p15:guide>
        <p15:guide id="11" pos="7151">
          <p15:clr>
            <a:srgbClr val="A4A3A4"/>
          </p15:clr>
        </p15:guide>
        <p15:guide id="12" pos="671">
          <p15:clr>
            <a:srgbClr val="A4A3A4"/>
          </p15:clr>
        </p15:guide>
        <p15:guide id="13" pos="4991">
          <p15:clr>
            <a:srgbClr val="A4A3A4"/>
          </p15:clr>
        </p15:guide>
        <p15:guide id="14" pos="7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8282"/>
    <a:srgbClr val="6E90FE"/>
    <a:srgbClr val="8086FC"/>
    <a:srgbClr val="6D6DFB"/>
    <a:srgbClr val="4E78F0"/>
    <a:srgbClr val="F0932C"/>
    <a:srgbClr val="92C610"/>
    <a:srgbClr val="9FD812"/>
    <a:srgbClr val="E05F2C"/>
    <a:srgbClr val="0ABE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CF1AB2-1976-4502-BF36-3FF5EA21886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29" autoAdjust="0"/>
  </p:normalViewPr>
  <p:slideViewPr>
    <p:cSldViewPr showGuides="1">
      <p:cViewPr varScale="1">
        <p:scale>
          <a:sx n="82" d="100"/>
          <a:sy n="82" d="100"/>
        </p:scale>
        <p:origin x="677" y="77"/>
      </p:cViewPr>
      <p:guideLst>
        <p:guide orient="horz" pos="2160"/>
        <p:guide orient="horz" pos="4030"/>
        <p:guide orient="horz" pos="1152"/>
        <p:guide orient="horz" pos="1018"/>
        <p:guide orient="horz" pos="3886"/>
        <p:guide orient="horz" pos="2928"/>
        <p:guide orient="horz" pos="3072"/>
        <p:guide orient="horz" pos="407"/>
        <p:guide pos="3839"/>
        <p:guide pos="959"/>
        <p:guide pos="7151"/>
        <p:guide pos="671"/>
        <p:guide pos="4991"/>
        <p:guide pos="70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28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9AFDC-7658-4951-B0FF-52DFF2A93C0A}" type="datetimeFigureOut">
              <a:rPr lang="en-US" smtClean="0"/>
              <a:pPr/>
              <a:t>11/9/2023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ED99B-9732-49FC-9C16-B56FEB1B10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62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 smtClean="0"/>
              <a:pPr/>
              <a:t>11/9/2023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824" y="1600200"/>
            <a:ext cx="5945188" cy="30480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0825" y="4898572"/>
            <a:ext cx="5945187" cy="127045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 cap="none" baseline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</a:t>
            </a:r>
            <a:r>
              <a:rPr dirty="0"/>
              <a:t>dit Master subtitle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658936" y="4782971"/>
            <a:ext cx="56546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 userDrawn="1"/>
        </p:nvGrpSpPr>
        <p:grpSpPr>
          <a:xfrm>
            <a:off x="7923213" y="0"/>
            <a:ext cx="4265612" cy="6858000"/>
            <a:chOff x="7923213" y="0"/>
            <a:chExt cx="4265612" cy="68580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13" y="0"/>
              <a:ext cx="4265612" cy="6858000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7923213" y="0"/>
              <a:ext cx="1065213" cy="6858000"/>
            </a:xfrm>
            <a:prstGeom prst="rect">
              <a:avLst/>
            </a:prstGeom>
            <a:gradFill flip="none" rotWithShape="1">
              <a:gsLst>
                <a:gs pos="75000">
                  <a:schemeClr val="tx2">
                    <a:alpha val="0"/>
                  </a:schemeClr>
                </a:gs>
                <a:gs pos="100000">
                  <a:schemeClr val="tx2">
                    <a:alpha val="2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11/9/2023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  <p:cxnSp>
        <p:nvCxnSpPr>
          <p:cNvPr id="7" name="Straight Connector 6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0" y="2237096"/>
            <a:ext cx="8229601" cy="2411103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2" y="4876800"/>
            <a:ext cx="8229601" cy="129222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none" baseline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1123611" y="0"/>
            <a:ext cx="1065214" cy="6868886"/>
            <a:chOff x="11123611" y="0"/>
            <a:chExt cx="1065214" cy="6868886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123611" y="0"/>
              <a:ext cx="1065213" cy="6858000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11123612" y="10886"/>
              <a:ext cx="1065213" cy="6858000"/>
            </a:xfrm>
            <a:prstGeom prst="rect">
              <a:avLst/>
            </a:prstGeom>
            <a:gradFill flip="none" rotWithShape="1">
              <a:gsLst>
                <a:gs pos="75000">
                  <a:schemeClr val="tx2">
                    <a:alpha val="0"/>
                  </a:schemeClr>
                </a:gs>
                <a:gs pos="100000">
                  <a:schemeClr val="tx2">
                    <a:alpha val="2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11/9/2023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  <p:cxnSp>
        <p:nvCxnSpPr>
          <p:cNvPr id="9" name="Straight Connector 8"/>
          <p:cNvCxnSpPr/>
          <p:nvPr/>
        </p:nvCxnSpPr>
        <p:spPr>
          <a:xfrm>
            <a:off x="1658936" y="4782971"/>
            <a:ext cx="80168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8" cy="1219200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8168" y="1984248"/>
            <a:ext cx="4800600" cy="41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1612" y="1984248"/>
            <a:ext cx="4800601" cy="41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11/9/2023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  <p:cxnSp>
        <p:nvCxnSpPr>
          <p:cNvPr id="8" name="Straight Connector 7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8" cy="1219200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828800"/>
            <a:ext cx="4800600" cy="8382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743200"/>
            <a:ext cx="4800600" cy="34258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1613" y="1828800"/>
            <a:ext cx="4800600" cy="8382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1613" y="2743200"/>
            <a:ext cx="4800600" cy="34258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11/9/2023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  <p:cxnSp>
        <p:nvCxnSpPr>
          <p:cNvPr id="10" name="Straight Connector 9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11/9/2023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  <p:cxnSp>
        <p:nvCxnSpPr>
          <p:cNvPr id="6" name="Straight Connector 5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11/9/2023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685800"/>
            <a:ext cx="4114800" cy="192563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4000" b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4414" y="685800"/>
            <a:ext cx="5257799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2895599"/>
            <a:ext cx="4114800" cy="17526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11/9/2023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  <p:cxnSp>
        <p:nvCxnSpPr>
          <p:cNvPr id="8" name="Straight Connector 7"/>
          <p:cNvCxnSpPr/>
          <p:nvPr/>
        </p:nvCxnSpPr>
        <p:spPr>
          <a:xfrm>
            <a:off x="1658936" y="2743200"/>
            <a:ext cx="3902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685800"/>
            <a:ext cx="4114800" cy="1925638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000" b="0" i="0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6025925" y="-50118"/>
            <a:ext cx="6172198" cy="6857999"/>
          </a:xfrm>
          <a:solidFill>
            <a:schemeClr val="bg2"/>
          </a:solidFill>
          <a:effectLst>
            <a:outerShdw blurRad="152400" dist="50800" dir="10800000" algn="r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2895599"/>
            <a:ext cx="4114800" cy="17526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658936" y="2743200"/>
            <a:ext cx="3902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11/9/2023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3412" y="646112"/>
            <a:ext cx="1828801" cy="5522913"/>
          </a:xfrm>
        </p:spPr>
        <p:txBody>
          <a:bodyPr vert="eaVert"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646112"/>
            <a:ext cx="7620000" cy="5522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11/9/2023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  <p:cxnSp>
        <p:nvCxnSpPr>
          <p:cNvPr id="7" name="Straight Connector 6"/>
          <p:cNvCxnSpPr/>
          <p:nvPr/>
        </p:nvCxnSpPr>
        <p:spPr>
          <a:xfrm>
            <a:off x="9371012" y="762000"/>
            <a:ext cx="0" cy="533400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9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81200"/>
            <a:ext cx="9829799" cy="4187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5954834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8011" y="6400800"/>
            <a:ext cx="154865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11/9/2023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5411" y="6400800"/>
            <a:ext cx="1066802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065213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" y="0"/>
            <a:ext cx="1065213" cy="6858000"/>
          </a:xfrm>
          <a:prstGeom prst="rect">
            <a:avLst/>
          </a:prstGeom>
          <a:gradFill flip="none" rotWithShape="1">
            <a:gsLst>
              <a:gs pos="75000">
                <a:schemeClr val="tx2">
                  <a:alpha val="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1175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0425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3463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disha_Gramya_Bank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50CE4-B9AF-A9BE-96FA-BC607DF77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111A95-BBE4-6E5C-B02C-2F2F7093F9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lum bright="-30000" contrast="-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4" cy="6856214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A9B112-C624-E01C-7608-F2462E71B1BB}"/>
              </a:ext>
            </a:extLst>
          </p:cNvPr>
          <p:cNvSpPr txBox="1"/>
          <p:nvPr/>
        </p:nvSpPr>
        <p:spPr>
          <a:xfrm>
            <a:off x="152109" y="4312829"/>
            <a:ext cx="2822439" cy="24307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999" dirty="0">
                <a:solidFill>
                  <a:schemeClr val="bg1"/>
                </a:solidFill>
              </a:rPr>
              <a:t>GROUP 15</a:t>
            </a:r>
          </a:p>
          <a:p>
            <a:r>
              <a:rPr lang="en-IN" sz="2799" i="1" dirty="0">
                <a:solidFill>
                  <a:schemeClr val="bg1"/>
                </a:solidFill>
              </a:rPr>
              <a:t>-</a:t>
            </a:r>
            <a:r>
              <a:rPr lang="en-IN" sz="2799" i="1" dirty="0" err="1">
                <a:solidFill>
                  <a:schemeClr val="bg1"/>
                </a:solidFill>
              </a:rPr>
              <a:t>Souhardya</a:t>
            </a:r>
            <a:r>
              <a:rPr lang="en-IN" sz="2799" i="1" dirty="0">
                <a:solidFill>
                  <a:schemeClr val="bg1"/>
                </a:solidFill>
              </a:rPr>
              <a:t> Mitra</a:t>
            </a:r>
          </a:p>
          <a:p>
            <a:r>
              <a:rPr lang="en-IN" sz="2799" i="1" dirty="0">
                <a:solidFill>
                  <a:schemeClr val="bg1"/>
                </a:solidFill>
              </a:rPr>
              <a:t>-Hemant </a:t>
            </a:r>
            <a:r>
              <a:rPr lang="en-IN" sz="2799" i="1" dirty="0" err="1">
                <a:solidFill>
                  <a:schemeClr val="bg1"/>
                </a:solidFill>
              </a:rPr>
              <a:t>Nikhade</a:t>
            </a:r>
            <a:endParaRPr lang="en-IN" sz="2799" i="1" dirty="0">
              <a:solidFill>
                <a:schemeClr val="bg1"/>
              </a:solidFill>
            </a:endParaRPr>
          </a:p>
          <a:p>
            <a:r>
              <a:rPr lang="en-IN" sz="2799" i="1" dirty="0">
                <a:solidFill>
                  <a:schemeClr val="bg1"/>
                </a:solidFill>
              </a:rPr>
              <a:t>-Vinay Verma</a:t>
            </a:r>
          </a:p>
          <a:p>
            <a:r>
              <a:rPr lang="en-IN" sz="2799" i="1" dirty="0">
                <a:solidFill>
                  <a:schemeClr val="bg1"/>
                </a:solidFill>
              </a:rPr>
              <a:t>-</a:t>
            </a:r>
            <a:r>
              <a:rPr lang="en-IN" sz="2799" i="1">
                <a:solidFill>
                  <a:schemeClr val="bg1"/>
                </a:solidFill>
              </a:rPr>
              <a:t>Adithya.L</a:t>
            </a:r>
            <a:endParaRPr lang="en-IN" sz="2799" i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435578-062B-1DBF-98A3-35960A7830B3}"/>
              </a:ext>
            </a:extLst>
          </p:cNvPr>
          <p:cNvSpPr txBox="1"/>
          <p:nvPr/>
        </p:nvSpPr>
        <p:spPr>
          <a:xfrm>
            <a:off x="8380428" y="4429132"/>
            <a:ext cx="3214710" cy="1138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999" dirty="0">
                <a:solidFill>
                  <a:schemeClr val="bg1">
                    <a:lumMod val="95000"/>
                  </a:schemeClr>
                </a:solidFill>
              </a:rPr>
              <a:t>INSTRUCTOR</a:t>
            </a:r>
          </a:p>
          <a:p>
            <a:r>
              <a:rPr lang="en-IN" sz="2799" dirty="0">
                <a:solidFill>
                  <a:schemeClr val="bg1">
                    <a:lumMod val="95000"/>
                  </a:schemeClr>
                </a:solidFill>
              </a:rPr>
              <a:t>DR.DOOTIKA VATS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496" y="500042"/>
            <a:ext cx="74295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chemeClr val="bg1"/>
                </a:solidFill>
              </a:rPr>
              <a:t>Analysis of Commercial banks of India</a:t>
            </a:r>
            <a:endParaRPr lang="en-US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669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C2028F5-72DD-CCBD-5FBF-5DBC29D74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1993" y="44624"/>
            <a:ext cx="1446831" cy="1312674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5400046B-8936-1E51-2CE5-6B91DA2FB77C}"/>
              </a:ext>
            </a:extLst>
          </p:cNvPr>
          <p:cNvSpPr/>
          <p:nvPr/>
        </p:nvSpPr>
        <p:spPr>
          <a:xfrm>
            <a:off x="3934172" y="476672"/>
            <a:ext cx="3960440" cy="15121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34AB071-3765-3B57-5A3E-766775EF2954}"/>
              </a:ext>
            </a:extLst>
          </p:cNvPr>
          <p:cNvSpPr/>
          <p:nvPr/>
        </p:nvSpPr>
        <p:spPr>
          <a:xfrm>
            <a:off x="3934172" y="476672"/>
            <a:ext cx="3960440" cy="15121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COMMERCIAL BANKS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F4612D0-872A-F2B0-6813-5036AFB3F445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5914392" y="1988840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9144CC35-36A5-E6E5-37CE-1A6E22BF82BA}"/>
              </a:ext>
            </a:extLst>
          </p:cNvPr>
          <p:cNvCxnSpPr/>
          <p:nvPr/>
        </p:nvCxnSpPr>
        <p:spPr>
          <a:xfrm rot="10800000">
            <a:off x="3574132" y="2492896"/>
            <a:ext cx="2340260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A6A783F6-732D-6A30-0EC6-8B7D3E55E30F}"/>
              </a:ext>
            </a:extLst>
          </p:cNvPr>
          <p:cNvSpPr/>
          <p:nvPr/>
        </p:nvSpPr>
        <p:spPr>
          <a:xfrm>
            <a:off x="1341888" y="1700808"/>
            <a:ext cx="2895136" cy="21568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PUBLIC</a:t>
            </a:r>
          </a:p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SECTOR</a:t>
            </a:r>
          </a:p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BANKS</a:t>
            </a:r>
          </a:p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e.g. SBI, Indian bank,  Uco bank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9895C6F4-DE21-153D-F8F4-D797E05B3E02}"/>
              </a:ext>
            </a:extLst>
          </p:cNvPr>
          <p:cNvCxnSpPr>
            <a:stCxn id="15" idx="4"/>
          </p:cNvCxnSpPr>
          <p:nvPr/>
        </p:nvCxnSpPr>
        <p:spPr>
          <a:xfrm rot="16200000" flipH="1">
            <a:off x="6809193" y="1094039"/>
            <a:ext cx="1342746" cy="31323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DF6B9512-3691-5F05-D519-F6056F90B65C}"/>
              </a:ext>
            </a:extLst>
          </p:cNvPr>
          <p:cNvCxnSpPr>
            <a:cxnSpLocks/>
          </p:cNvCxnSpPr>
          <p:nvPr/>
        </p:nvCxnSpPr>
        <p:spPr>
          <a:xfrm rot="5400000">
            <a:off x="3016068" y="2161451"/>
            <a:ext cx="3456386" cy="2340273"/>
          </a:xfrm>
          <a:prstGeom prst="bentConnector3">
            <a:avLst>
              <a:gd name="adj1" fmla="val 1416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BBD96967-2745-287D-0F0F-26AB56BEDB27}"/>
              </a:ext>
            </a:extLst>
          </p:cNvPr>
          <p:cNvSpPr/>
          <p:nvPr/>
        </p:nvSpPr>
        <p:spPr>
          <a:xfrm>
            <a:off x="8594742" y="2000240"/>
            <a:ext cx="2969428" cy="24236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PRIVATE</a:t>
            </a:r>
          </a:p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SECTOR</a:t>
            </a:r>
          </a:p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BANKS</a:t>
            </a:r>
          </a:p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e.g. Axis bank, ICICI bank, HDFC bank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3EE788B-25A3-6A23-DBAE-1944D8E4690D}"/>
              </a:ext>
            </a:extLst>
          </p:cNvPr>
          <p:cNvSpPr/>
          <p:nvPr/>
        </p:nvSpPr>
        <p:spPr>
          <a:xfrm>
            <a:off x="1098664" y="4221087"/>
            <a:ext cx="3495550" cy="21368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REGIONAL RURAL</a:t>
            </a:r>
          </a:p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BANKS</a:t>
            </a:r>
          </a:p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e.g. </a:t>
            </a:r>
            <a:r>
              <a:rPr lang="en-US" sz="2000" dirty="0">
                <a:solidFill>
                  <a:schemeClr val="tx1"/>
                </a:solidFill>
              </a:rPr>
              <a:t>Nagaland Rural Bank, </a:t>
            </a:r>
            <a:br>
              <a:rPr lang="en-US" sz="2000" u="sng" dirty="0">
                <a:solidFill>
                  <a:schemeClr val="tx1"/>
                </a:solidFill>
                <a:hlinkClick r:id="rId3"/>
              </a:rPr>
            </a:br>
            <a:r>
              <a:rPr lang="en-US" sz="2000" dirty="0">
                <a:solidFill>
                  <a:schemeClr val="tx1"/>
                </a:solidFill>
              </a:rPr>
              <a:t>Odisa Gramya Bank</a:t>
            </a:r>
            <a:endParaRPr lang="en-IN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20115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B9DB1-7CFD-DEC8-B6BA-4F1DA5B76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                         </a:t>
            </a:r>
          </a:p>
        </p:txBody>
      </p:sp>
      <p:pic>
        <p:nvPicPr>
          <p:cNvPr id="11" name="Content Placeholder 10" descr="6395-02-banking-powerpoint-template-1.jpg"/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88825" cy="6858000"/>
          </a:xfrm>
        </p:spPr>
      </p:pic>
      <p:sp>
        <p:nvSpPr>
          <p:cNvPr id="12" name="TextBox 11"/>
          <p:cNvSpPr txBox="1"/>
          <p:nvPr/>
        </p:nvSpPr>
        <p:spPr>
          <a:xfrm>
            <a:off x="522248" y="642918"/>
            <a:ext cx="8286808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6000" dirty="0">
                <a:latin typeface="Calibri" pitchFamily="34" charset="0"/>
                <a:cs typeface="Calibri" pitchFamily="34" charset="0"/>
              </a:rPr>
              <a:t>Data collection</a:t>
            </a:r>
            <a:endParaRPr lang="en-US" sz="6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3686" y="2428868"/>
            <a:ext cx="11215766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2800" b="1" dirty="0">
                <a:latin typeface="Arial" pitchFamily="34" charset="0"/>
                <a:cs typeface="Arial" pitchFamily="34" charset="0"/>
              </a:rPr>
              <a:t>ASSETS AND REVENUES OF VARIOUS COMMERCIAL BANKS</a:t>
            </a:r>
          </a:p>
          <a:p>
            <a:pPr>
              <a:buFont typeface="Wingdings" pitchFamily="2" charset="2"/>
              <a:buChar char="Ø"/>
            </a:pPr>
            <a:endParaRPr lang="en-IN" sz="2800" b="1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2800" b="1" dirty="0">
                <a:latin typeface="Arial" pitchFamily="34" charset="0"/>
                <a:cs typeface="Arial" pitchFamily="34" charset="0"/>
              </a:rPr>
              <a:t>BRANCHES ACROSS INDIA</a:t>
            </a:r>
          </a:p>
          <a:p>
            <a:endParaRPr lang="en-IN" sz="2800" b="1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2800" b="1" dirty="0">
                <a:latin typeface="Arial" pitchFamily="34" charset="0"/>
                <a:cs typeface="Arial" pitchFamily="34" charset="0"/>
              </a:rPr>
              <a:t>GOVERNMENT SHARE HOLDING IN PUBLIC SECTOR BANKS</a:t>
            </a:r>
          </a:p>
          <a:p>
            <a:r>
              <a:rPr lang="en-IN" sz="2800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IN" sz="2800" b="1" dirty="0">
                <a:latin typeface="Arial" pitchFamily="34" charset="0"/>
                <a:cs typeface="Arial" pitchFamily="34" charset="0"/>
              </a:rPr>
              <a:t>LOCATION OF HEADQUARTERS IN INDIA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46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                      </a:t>
            </a:r>
            <a:r>
              <a:rPr lang="en-US" b="1" dirty="0">
                <a:ln w="0"/>
                <a:solidFill>
                  <a:schemeClr val="tx2">
                    <a:lumMod val="95000"/>
                    <a:lumOff val="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PUBLIC SECTOR BANKS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3A18CFB-1AA3-CA82-CCD7-F81C129CF9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1098" cy="68580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A446DF-ACFB-5B88-0C14-D04E32AFB8B8}"/>
              </a:ext>
            </a:extLst>
          </p:cNvPr>
          <p:cNvSpPr txBox="1"/>
          <p:nvPr/>
        </p:nvSpPr>
        <p:spPr>
          <a:xfrm>
            <a:off x="2133972" y="1857364"/>
            <a:ext cx="91450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3600" b="1" i="1" dirty="0"/>
          </a:p>
          <a:p>
            <a:pPr>
              <a:buFont typeface="Wingdings" pitchFamily="2" charset="2"/>
              <a:buChar char="Ø"/>
            </a:pPr>
            <a:r>
              <a:rPr lang="en-IN" sz="3600" b="1" i="1" dirty="0">
                <a:solidFill>
                  <a:schemeClr val="tx2">
                    <a:lumMod val="95000"/>
                    <a:lumOff val="5000"/>
                  </a:schemeClr>
                </a:solidFill>
              </a:rPr>
              <a:t>Association between assets and revenue of the bank</a:t>
            </a:r>
          </a:p>
          <a:p>
            <a:pPr>
              <a:buFont typeface="Wingdings" pitchFamily="2" charset="2"/>
              <a:buChar char="Ø"/>
            </a:pPr>
            <a:r>
              <a:rPr lang="en-IN" sz="3600" b="1" i="1" dirty="0">
                <a:solidFill>
                  <a:schemeClr val="tx2">
                    <a:lumMod val="95000"/>
                    <a:lumOff val="5000"/>
                  </a:schemeClr>
                </a:solidFill>
              </a:rPr>
              <a:t>Government share in the banks</a:t>
            </a:r>
          </a:p>
          <a:p>
            <a:pPr>
              <a:buFont typeface="Wingdings" pitchFamily="2" charset="2"/>
              <a:buChar char="Ø"/>
            </a:pPr>
            <a:r>
              <a:rPr lang="en-IN" sz="3600" b="1" i="1" dirty="0">
                <a:solidFill>
                  <a:schemeClr val="tx2">
                    <a:lumMod val="95000"/>
                    <a:lumOff val="5000"/>
                  </a:schemeClr>
                </a:solidFill>
              </a:rPr>
              <a:t>Reason behind the geographical location of  headquarters</a:t>
            </a:r>
          </a:p>
        </p:txBody>
      </p:sp>
    </p:spTree>
    <p:extLst>
      <p:ext uri="{BB962C8B-B14F-4D97-AF65-F5344CB8AC3E}">
        <p14:creationId xmlns:p14="http://schemas.microsoft.com/office/powerpoint/2010/main" val="271760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427A7D-9E44-927F-6F17-171651B15F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825" cy="6858000"/>
          </a:xfrm>
        </p:spPr>
      </p:pic>
    </p:spTree>
    <p:extLst>
      <p:ext uri="{BB962C8B-B14F-4D97-AF65-F5344CB8AC3E}">
        <p14:creationId xmlns:p14="http://schemas.microsoft.com/office/powerpoint/2010/main" val="219390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Assets </a:t>
            </a:r>
            <a:r>
              <a:rPr lang="en-IN" dirty="0" err="1"/>
              <a:t>vs</a:t>
            </a:r>
            <a:r>
              <a:rPr lang="en-IN" dirty="0"/>
              <a:t> Revenues of Public Sector Banks</a:t>
            </a:r>
            <a:endParaRPr 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121888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3665520" y="2857496"/>
            <a:ext cx="4286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Assets = 58503 + 12.53 Revenues</a:t>
            </a:r>
          </a:p>
          <a:p>
            <a:r>
              <a:rPr lang="en-IN" dirty="0"/>
              <a:t>R- Sq =99.8%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74D593-BB89-C707-083D-B7FC5CE91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825" cy="69573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-24"/>
            <a:ext cx="3308330" cy="2308324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dirty="0"/>
              <a:t>Location of Headquarters of Public Sector Banks in India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2481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CF928-3564-126B-B225-DC8E5875B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PRIVATE SECTOR BANKS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E7A8F-464E-7A7E-09AB-A175AF08D6C1}"/>
              </a:ext>
            </a:extLst>
          </p:cNvPr>
          <p:cNvSpPr txBox="1"/>
          <p:nvPr/>
        </p:nvSpPr>
        <p:spPr>
          <a:xfrm>
            <a:off x="1989956" y="2348880"/>
            <a:ext cx="936225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Why the private sector banks are deprived of assets and revenues as of public sector banks  ??</a:t>
            </a:r>
          </a:p>
          <a:p>
            <a:endParaRPr lang="en-IN" sz="3200" dirty="0"/>
          </a:p>
          <a:p>
            <a:endParaRPr lang="en-IN" sz="3200" dirty="0"/>
          </a:p>
          <a:p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EB7BDE-E162-1078-2F14-B89D970F1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"/>
                    </a14:imgEffect>
                    <a14:imgEffect>
                      <a14:brightnessContrast bright="-28000" contrast="-5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1462"/>
            <a:ext cx="12188824" cy="692946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glow>
              <a:schemeClr val="accent1"/>
            </a:glo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B995B7-821F-309F-21D8-3B6734C0BCA6}"/>
              </a:ext>
            </a:extLst>
          </p:cNvPr>
          <p:cNvSpPr txBox="1"/>
          <p:nvPr/>
        </p:nvSpPr>
        <p:spPr>
          <a:xfrm>
            <a:off x="549796" y="2714620"/>
            <a:ext cx="1123324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4000" b="1" i="1" dirty="0">
                <a:ln w="0"/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 the private sector banks are deprived of assets and revenues as of public sector banks ?</a:t>
            </a:r>
          </a:p>
          <a:p>
            <a:pPr>
              <a:buFont typeface="Wingdings" pitchFamily="2" charset="2"/>
              <a:buChar char="Ø"/>
            </a:pPr>
            <a:r>
              <a:rPr lang="en-IN" sz="4000" b="1" i="1" dirty="0">
                <a:ln w="0"/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Geographical location of headquarters</a:t>
            </a:r>
          </a:p>
          <a:p>
            <a:pPr>
              <a:buFont typeface="Wingdings" pitchFamily="2" charset="2"/>
              <a:buChar char="Ø"/>
            </a:pPr>
            <a:r>
              <a:rPr lang="en-IN" sz="4000" b="1" i="1" dirty="0">
                <a:ln w="0"/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Number of branches of various private sector banks across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124" y="571480"/>
            <a:ext cx="87868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Rounded MT Bold" pitchFamily="34" charset="0"/>
              </a:rPr>
              <a:t>Private Sector Banks</a:t>
            </a:r>
            <a:endParaRPr lang="en-US" sz="4800" dirty="0">
              <a:solidFill>
                <a:schemeClr val="accent1">
                  <a:lumMod val="40000"/>
                  <a:lumOff val="60000"/>
                </a:schemeClr>
              </a:solidFill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709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602297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22973" y="0"/>
            <a:ext cx="616585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4400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- 3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888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665388" y="1357298"/>
            <a:ext cx="4572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Assets = -3995 + 11.58 Revenues</a:t>
            </a:r>
          </a:p>
          <a:p>
            <a:r>
              <a:rPr lang="en-IN" dirty="0"/>
              <a:t>R-Sq = 98.8%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66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17EE5-EDD7-C9C2-A342-7CAE174A5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F36318-EF79-675D-23EB-A01955EDA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"/>
            <a:ext cx="12188825" cy="6857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0"/>
            <a:ext cx="2736826" cy="156966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Location of Private Sector Banks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1960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888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9C0A95-9DDD-886F-72A0-DEC19538B85E}"/>
              </a:ext>
            </a:extLst>
          </p:cNvPr>
          <p:cNvSpPr txBox="1"/>
          <p:nvPr/>
        </p:nvSpPr>
        <p:spPr>
          <a:xfrm>
            <a:off x="1701924" y="548680"/>
            <a:ext cx="7704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i="1" dirty="0"/>
              <a:t>               Regional Rural Banks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655AC4-AF3D-BAEC-7BB0-B097EA018E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7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2000"/>
                    </a14:imgEffect>
                    <a14:imgEffect>
                      <a14:saturation sat="123000"/>
                    </a14:imgEffect>
                    <a14:imgEffect>
                      <a14:brightnessContrast bright="18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5152"/>
            <a:ext cx="1218882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BD1776-CE80-F6D5-B3F8-EA7BA371CF1C}"/>
              </a:ext>
            </a:extLst>
          </p:cNvPr>
          <p:cNvSpPr txBox="1"/>
          <p:nvPr/>
        </p:nvSpPr>
        <p:spPr>
          <a:xfrm>
            <a:off x="477788" y="561661"/>
            <a:ext cx="10369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      Regional Rural Banks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111A05-0C60-FD91-BBC8-80A04F77D498}"/>
              </a:ext>
            </a:extLst>
          </p:cNvPr>
          <p:cNvSpPr txBox="1"/>
          <p:nvPr/>
        </p:nvSpPr>
        <p:spPr>
          <a:xfrm>
            <a:off x="1053852" y="2204864"/>
            <a:ext cx="105851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IN" sz="3600" b="1" dirty="0"/>
              <a:t>Reason behind spreading all over the India</a:t>
            </a:r>
          </a:p>
          <a:p>
            <a:r>
              <a:rPr lang="en-IN" sz="3600" b="1" dirty="0"/>
              <a:t>(almost every state)</a:t>
            </a:r>
          </a:p>
          <a:p>
            <a:endParaRPr lang="en-IN" sz="3600" b="1" dirty="0"/>
          </a:p>
          <a:p>
            <a:pPr>
              <a:buFont typeface="Wingdings" pitchFamily="2" charset="2"/>
              <a:buChar char="Ø"/>
            </a:pPr>
            <a:r>
              <a:rPr lang="en-IN" sz="3600" b="1" dirty="0"/>
              <a:t>Branch distribution of RRB</a:t>
            </a:r>
          </a:p>
          <a:p>
            <a:endParaRPr lang="en-IN" sz="3600" b="1" dirty="0"/>
          </a:p>
          <a:p>
            <a:pPr>
              <a:buFont typeface="Wingdings" pitchFamily="2" charset="2"/>
              <a:buChar char="Ø"/>
            </a:pPr>
            <a:r>
              <a:rPr lang="en-IN" sz="3600" b="1" dirty="0"/>
              <a:t>Share of assets in RRB</a:t>
            </a:r>
          </a:p>
          <a:p>
            <a:pPr>
              <a:buFont typeface="Wingdings" pitchFamily="2" charset="2"/>
              <a:buChar char="Ø"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21625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3F956A-F602-9892-B496-A141CF8F1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0"/>
            <a:ext cx="2665388" cy="2062103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200" dirty="0"/>
              <a:t>Location of HQ of Regional Rural Banks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4793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888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5915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88825" cy="684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266471.jpg"/>
          <p:cNvPicPr>
            <a:picLocks noChangeAspect="1"/>
          </p:cNvPicPr>
          <p:nvPr/>
        </p:nvPicPr>
        <p:blipFill>
          <a:blip r:embed="rId2">
            <a:lum bright="8000"/>
          </a:blip>
          <a:stretch>
            <a:fillRect/>
          </a:stretch>
        </p:blipFill>
        <p:spPr>
          <a:xfrm>
            <a:off x="0" y="0"/>
            <a:ext cx="12380956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51140" y="2786058"/>
            <a:ext cx="7358114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SHINY APP (GROUP -15)</a:t>
            </a:r>
            <a:endParaRPr lang="en-US" sz="48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04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atsApp Video 2023-11-09 at 12.00.18 PM">
            <a:hlinkClick r:id="" action="ppaction://media"/>
            <a:extLst>
              <a:ext uri="{FF2B5EF4-FFF2-40B4-BE49-F238E27FC236}">
                <a16:creationId xmlns:a16="http://schemas.microsoft.com/office/drawing/2014/main" id="{A87A4ED5-0085-824B-23B9-685EF4D6DC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27384"/>
            <a:ext cx="12188825" cy="698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6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5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ACKNOWLEDGEMENT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736694" y="2285992"/>
            <a:ext cx="100013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We would like to express our gratitude to </a:t>
            </a:r>
            <a:r>
              <a:rPr lang="en-IN" sz="2800" i="1" u="sng" dirty="0"/>
              <a:t>Dr. </a:t>
            </a:r>
            <a:r>
              <a:rPr lang="en-IN" sz="2800" i="1" u="sng" dirty="0" err="1"/>
              <a:t>Dootika</a:t>
            </a:r>
            <a:r>
              <a:rPr lang="en-IN" sz="2800" i="1" u="sng" dirty="0"/>
              <a:t> Vats </a:t>
            </a:r>
            <a:r>
              <a:rPr lang="en-IN" sz="2800" dirty="0"/>
              <a:t>for her contribution to the completion of the project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3-11-09 at 09.47.30_521dff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88824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8000" y="714356"/>
            <a:ext cx="30718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THANK YOU!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66180" y="5286388"/>
            <a:ext cx="257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GROUP -15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ESENTER_VERSION" val="6"/>
  <p:tag name="ARTICULATE_PROJECT_OPEN" val="0"/>
</p:tagLst>
</file>

<file path=ppt/theme/theme1.xml><?xml version="1.0" encoding="utf-8"?>
<a:theme xmlns:a="http://schemas.openxmlformats.org/drawingml/2006/main" name="Currency Symbols 16x9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rrency symbols presentation (widescreen).potx" id="{0BEEB329-2C4D-4D02-9858-CA91ACE92AB1}" vid="{944DA297-E844-470D-A85C-00068074ACC2}"/>
    </a:ext>
  </a:extLst>
</a:theme>
</file>

<file path=ppt/theme/theme2.xml><?xml version="1.0" encoding="utf-8"?>
<a:theme xmlns:a="http://schemas.openxmlformats.org/drawingml/2006/main" name="Office Theme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Currency symbols presentation (widescreen)</Template>
  <TotalTime>306</TotalTime>
  <Words>304</Words>
  <Application>Microsoft Office PowerPoint</Application>
  <PresentationFormat>Custom</PresentationFormat>
  <Paragraphs>64</Paragraphs>
  <Slides>20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Rounded MT Bold</vt:lpstr>
      <vt:lpstr>Calibri</vt:lpstr>
      <vt:lpstr>Cambria</vt:lpstr>
      <vt:lpstr>Wingdings</vt:lpstr>
      <vt:lpstr>Currency Symbols 16x9</vt:lpstr>
      <vt:lpstr>PowerPoint Presentation</vt:lpstr>
      <vt:lpstr>PowerPoint Presentation</vt:lpstr>
      <vt:lpstr>                                                      </vt:lpstr>
      <vt:lpstr>                       PUBLIC SECTOR BANKS</vt:lpstr>
      <vt:lpstr>PowerPoint Presentation</vt:lpstr>
      <vt:lpstr>Assets vs Revenues of Public Sector Banks</vt:lpstr>
      <vt:lpstr>PowerPoint Presentation</vt:lpstr>
      <vt:lpstr>                     PRIVATE SECTOR BANKS</vt:lpstr>
      <vt:lpstr>Add a Slide Title - 1</vt:lpstr>
      <vt:lpstr>Add a Slide Title - 3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ACKNOWLEDGEMENT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Adithya Lingala</dc:creator>
  <cp:lastModifiedBy>Adithya Lingala</cp:lastModifiedBy>
  <cp:revision>22</cp:revision>
  <dcterms:created xsi:type="dcterms:W3CDTF">2023-11-08T18:38:36Z</dcterms:created>
  <dcterms:modified xsi:type="dcterms:W3CDTF">2023-11-09T06:59:48Z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