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2"/>
    <p:sldId id="318" r:id="rId3"/>
    <p:sldId id="339" r:id="rId4"/>
    <p:sldId id="329" r:id="rId5"/>
    <p:sldId id="330" r:id="rId6"/>
    <p:sldId id="347" r:id="rId7"/>
    <p:sldId id="341" r:id="rId8"/>
    <p:sldId id="342" r:id="rId9"/>
    <p:sldId id="333" r:id="rId10"/>
    <p:sldId id="335" r:id="rId11"/>
    <p:sldId id="343" r:id="rId12"/>
    <p:sldId id="348" r:id="rId13"/>
    <p:sldId id="336" r:id="rId14"/>
    <p:sldId id="346" r:id="rId15"/>
    <p:sldId id="345" r:id="rId16"/>
    <p:sldId id="349" r:id="rId17"/>
    <p:sldId id="338" r:id="rId18"/>
    <p:sldId id="350" r:id="rId19"/>
    <p:sldId id="353" r:id="rId20"/>
    <p:sldId id="351" r:id="rId21"/>
  </p:sldIdLst>
  <p:sldSz cx="12188825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orient="horz" pos="4030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1018">
          <p15:clr>
            <a:srgbClr val="A4A3A4"/>
          </p15:clr>
        </p15:guide>
        <p15:guide id="5" orient="horz" pos="3886">
          <p15:clr>
            <a:srgbClr val="A4A3A4"/>
          </p15:clr>
        </p15:guide>
        <p15:guide id="6" orient="horz" pos="2928">
          <p15:clr>
            <a:srgbClr val="A4A3A4"/>
          </p15:clr>
        </p15:guide>
        <p15:guide id="7" orient="horz" pos="3072">
          <p15:clr>
            <a:srgbClr val="A4A3A4"/>
          </p15:clr>
        </p15:guide>
        <p15:guide id="8" orient="horz" pos="407">
          <p15:clr>
            <a:srgbClr val="A4A3A4"/>
          </p15:clr>
        </p15:guide>
        <p15:guide id="9" pos="3839">
          <p15:clr>
            <a:srgbClr val="A4A3A4"/>
          </p15:clr>
        </p15:guide>
        <p15:guide id="10" pos="959">
          <p15:clr>
            <a:srgbClr val="A4A3A4"/>
          </p15:clr>
        </p15:guide>
        <p15:guide id="11" pos="7151">
          <p15:clr>
            <a:srgbClr val="A4A3A4"/>
          </p15:clr>
        </p15:guide>
        <p15:guide id="12" pos="671">
          <p15:clr>
            <a:srgbClr val="A4A3A4"/>
          </p15:clr>
        </p15:guide>
        <p15:guide id="13" pos="4991">
          <p15:clr>
            <a:srgbClr val="A4A3A4"/>
          </p15:clr>
        </p15:guide>
        <p15:guide id="14" pos="7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28282"/>
    <a:srgbClr val="6E90FE"/>
    <a:srgbClr val="8086FC"/>
    <a:srgbClr val="6D6DFB"/>
    <a:srgbClr val="4E78F0"/>
    <a:srgbClr val="F0932C"/>
    <a:srgbClr val="92C610"/>
    <a:srgbClr val="9FD812"/>
    <a:srgbClr val="E05F2C"/>
    <a:srgbClr val="0ABEB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82" autoAdjust="0"/>
    <p:restoredTop sz="94629" autoAdjust="0"/>
  </p:normalViewPr>
  <p:slideViewPr>
    <p:cSldViewPr showGuides="1">
      <p:cViewPr>
        <p:scale>
          <a:sx n="78" d="100"/>
          <a:sy n="78" d="100"/>
        </p:scale>
        <p:origin x="-806" y="-293"/>
      </p:cViewPr>
      <p:guideLst>
        <p:guide orient="horz" pos="2160"/>
        <p:guide orient="horz" pos="4030"/>
        <p:guide orient="horz" pos="1152"/>
        <p:guide orient="horz" pos="1018"/>
        <p:guide orient="horz" pos="3886"/>
        <p:guide orient="horz" pos="2928"/>
        <p:guide orient="horz" pos="3072"/>
        <p:guide orient="horz" pos="407"/>
        <p:guide pos="3839"/>
        <p:guide pos="959"/>
        <p:guide pos="7151"/>
        <p:guide pos="671"/>
        <p:guide pos="4991"/>
        <p:guide pos="70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2850" y="96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9AFDC-7658-4951-B0FF-52DFF2A93C0A}" type="datetimeFigureOut">
              <a:rPr lang="en-US" smtClean="0"/>
              <a:pPr/>
              <a:t>11/9/2023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ED99B-9732-49FC-9C16-B56FEB1B10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14662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 smtClean="0"/>
              <a:pPr/>
              <a:t>11/9/2023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824" y="1600200"/>
            <a:ext cx="5945188" cy="3048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0825" y="4898572"/>
            <a:ext cx="5945187" cy="127045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</a:t>
            </a:r>
            <a:r>
              <a:rPr dirty="0"/>
              <a:t>dit Master subtitle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658936" y="4782971"/>
            <a:ext cx="56546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 userDrawn="1"/>
        </p:nvGrpSpPr>
        <p:grpSpPr>
          <a:xfrm>
            <a:off x="7923213" y="0"/>
            <a:ext cx="4265612" cy="6858000"/>
            <a:chOff x="7923213" y="0"/>
            <a:chExt cx="4265612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7923213" y="0"/>
              <a:ext cx="4265612" cy="685800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923213" y="0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xmlns="" val="94999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  <p:cxnSp>
        <p:nvCxnSpPr>
          <p:cNvPr id="7" name="Straight Connector 6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738254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0" y="2237096"/>
            <a:ext cx="8229601" cy="2411103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2" y="4876800"/>
            <a:ext cx="8229601" cy="129222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1123611" y="0"/>
            <a:ext cx="1065214" cy="6868886"/>
            <a:chOff x="11123611" y="0"/>
            <a:chExt cx="1065214" cy="686888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11123611" y="0"/>
              <a:ext cx="1065213" cy="685800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11123612" y="10886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  <p:cxnSp>
        <p:nvCxnSpPr>
          <p:cNvPr id="9" name="Straight Connector 8"/>
          <p:cNvCxnSpPr/>
          <p:nvPr/>
        </p:nvCxnSpPr>
        <p:spPr>
          <a:xfrm>
            <a:off x="1658936" y="4782971"/>
            <a:ext cx="80168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61813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8168" y="1984248"/>
            <a:ext cx="4800600" cy="41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612" y="1984248"/>
            <a:ext cx="4800601" cy="41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825340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800600" cy="8382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743200"/>
            <a:ext cx="4800600" cy="34258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1828800"/>
            <a:ext cx="4800600" cy="8382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1613" y="2743200"/>
            <a:ext cx="4800600" cy="34258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  <p:cxnSp>
        <p:nvCxnSpPr>
          <p:cNvPr id="10" name="Straight Connector 9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08419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  <p:cxnSp>
        <p:nvCxnSpPr>
          <p:cNvPr id="6" name="Straight Connector 5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626631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3607540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000" b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14" y="685800"/>
            <a:ext cx="5257799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44981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8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000" b="0" i="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6025925" y="-50118"/>
            <a:ext cx="6172198" cy="6857999"/>
          </a:xfrm>
          <a:solidFill>
            <a:schemeClr val="bg2"/>
          </a:solidFill>
          <a:effectLst>
            <a:outerShdw blurRad="152400" dist="50800" dir="10800000" algn="r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49172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460095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3412" y="646112"/>
            <a:ext cx="1828801" cy="5522913"/>
          </a:xfrm>
        </p:spPr>
        <p:txBody>
          <a:bodyPr vert="eaVert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646112"/>
            <a:ext cx="7620000" cy="5522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  <p:cxnSp>
        <p:nvCxnSpPr>
          <p:cNvPr id="7" name="Straight Connector 6"/>
          <p:cNvCxnSpPr/>
          <p:nvPr/>
        </p:nvCxnSpPr>
        <p:spPr>
          <a:xfrm>
            <a:off x="9371012" y="762000"/>
            <a:ext cx="0" cy="533400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079035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81200"/>
            <a:ext cx="9829799" cy="4187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5954834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8011" y="6400800"/>
            <a:ext cx="154865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11/9/2023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5411" y="6400800"/>
            <a:ext cx="1066802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1" y="0"/>
            <a:ext cx="1065213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" y="0"/>
            <a:ext cx="1065213" cy="6858000"/>
          </a:xfrm>
          <a:prstGeom prst="rect">
            <a:avLst/>
          </a:prstGeom>
          <a:gradFill flip="none" rotWithShape="1">
            <a:gsLst>
              <a:gs pos="75000">
                <a:schemeClr val="tx2">
                  <a:alpha val="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xmlns="" val="140305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0425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3463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disha_Gramya_Bank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9.xml"/><Relationship Id="rId1" Type="http://schemas.openxmlformats.org/officeDocument/2006/relationships/video" Target="file:///C:\Users\dell\Downloads\analysis-of-commercial-banks-of-india-personal-microsoft-edge-2023-11-09-00-4_z6N6VtiY.mp4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D50CE4-B9AF-A9BE-96FA-BC607DF7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C2111A95-BBE4-6E5C-B02C-2F2F7093F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lum bright="-30000" contrast="-4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4" cy="6856214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2A9B112-C624-E01C-7608-F2462E71B1BB}"/>
              </a:ext>
            </a:extLst>
          </p:cNvPr>
          <p:cNvSpPr txBox="1"/>
          <p:nvPr/>
        </p:nvSpPr>
        <p:spPr>
          <a:xfrm>
            <a:off x="152109" y="4312829"/>
            <a:ext cx="3001835" cy="24308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999" dirty="0">
                <a:solidFill>
                  <a:schemeClr val="bg1"/>
                </a:solidFill>
              </a:rPr>
              <a:t>GROUP 15</a:t>
            </a:r>
          </a:p>
          <a:p>
            <a:r>
              <a:rPr lang="en-IN" sz="2799" i="1" dirty="0">
                <a:solidFill>
                  <a:schemeClr val="bg1"/>
                </a:solidFill>
              </a:rPr>
              <a:t>-</a:t>
            </a:r>
            <a:r>
              <a:rPr lang="en-IN" sz="2799" i="1" dirty="0" err="1">
                <a:solidFill>
                  <a:schemeClr val="bg1"/>
                </a:solidFill>
              </a:rPr>
              <a:t>Souhardya</a:t>
            </a:r>
            <a:r>
              <a:rPr lang="en-IN" sz="2799" i="1" dirty="0">
                <a:solidFill>
                  <a:schemeClr val="bg1"/>
                </a:solidFill>
              </a:rPr>
              <a:t> Mitra</a:t>
            </a:r>
          </a:p>
          <a:p>
            <a:r>
              <a:rPr lang="en-IN" sz="2799" i="1" dirty="0">
                <a:solidFill>
                  <a:schemeClr val="bg1"/>
                </a:solidFill>
              </a:rPr>
              <a:t>-Hemanth </a:t>
            </a:r>
            <a:r>
              <a:rPr lang="en-IN" sz="2799" i="1" dirty="0" err="1">
                <a:solidFill>
                  <a:schemeClr val="bg1"/>
                </a:solidFill>
              </a:rPr>
              <a:t>Nikhade</a:t>
            </a:r>
            <a:endParaRPr lang="en-IN" sz="2799" i="1" dirty="0">
              <a:solidFill>
                <a:schemeClr val="bg1"/>
              </a:solidFill>
            </a:endParaRPr>
          </a:p>
          <a:p>
            <a:r>
              <a:rPr lang="en-IN" sz="2799" i="1" dirty="0">
                <a:solidFill>
                  <a:schemeClr val="bg1"/>
                </a:solidFill>
              </a:rPr>
              <a:t>-Vinay Verma</a:t>
            </a:r>
          </a:p>
          <a:p>
            <a:r>
              <a:rPr lang="en-IN" sz="2799" i="1" dirty="0">
                <a:solidFill>
                  <a:schemeClr val="bg1"/>
                </a:solidFill>
              </a:rPr>
              <a:t>-Adithya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5435578-062B-1DBF-98A3-35960A7830B3}"/>
              </a:ext>
            </a:extLst>
          </p:cNvPr>
          <p:cNvSpPr txBox="1"/>
          <p:nvPr/>
        </p:nvSpPr>
        <p:spPr>
          <a:xfrm>
            <a:off x="8380428" y="4429132"/>
            <a:ext cx="3214710" cy="1138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999" dirty="0">
                <a:solidFill>
                  <a:schemeClr val="bg1">
                    <a:lumMod val="95000"/>
                  </a:schemeClr>
                </a:solidFill>
              </a:rPr>
              <a:t>INSTRUCTOR</a:t>
            </a:r>
          </a:p>
          <a:p>
            <a:r>
              <a:rPr lang="en-IN" sz="2799" dirty="0">
                <a:solidFill>
                  <a:schemeClr val="bg1">
                    <a:lumMod val="95000"/>
                  </a:schemeClr>
                </a:solidFill>
              </a:rPr>
              <a:t>DR.DOOTIKA VATS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496" y="500042"/>
            <a:ext cx="74295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 smtClean="0">
                <a:solidFill>
                  <a:schemeClr val="bg1"/>
                </a:solidFill>
              </a:rPr>
              <a:t>Analysis of Commercial banks of India</a:t>
            </a:r>
            <a:endParaRPr lang="en-US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75669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AC2028F5-72DD-CCBD-5FBF-5DBC29D74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741993" y="44624"/>
            <a:ext cx="1446831" cy="1312674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xmlns="" id="{5400046B-8936-1E51-2CE5-6B91DA2FB77C}"/>
              </a:ext>
            </a:extLst>
          </p:cNvPr>
          <p:cNvSpPr/>
          <p:nvPr/>
        </p:nvSpPr>
        <p:spPr>
          <a:xfrm>
            <a:off x="3934172" y="476672"/>
            <a:ext cx="3960440" cy="15121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734AB071-3765-3B57-5A3E-766775EF2954}"/>
              </a:ext>
            </a:extLst>
          </p:cNvPr>
          <p:cNvSpPr/>
          <p:nvPr/>
        </p:nvSpPr>
        <p:spPr>
          <a:xfrm>
            <a:off x="3934172" y="476672"/>
            <a:ext cx="3960440" cy="15121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COMMERCIAL BANKS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AF4612D0-872A-F2B0-6813-5036AFB3F445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5914392" y="1988840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xmlns="" id="{9144CC35-36A5-E6E5-37CE-1A6E22BF82BA}"/>
              </a:ext>
            </a:extLst>
          </p:cNvPr>
          <p:cNvCxnSpPr/>
          <p:nvPr/>
        </p:nvCxnSpPr>
        <p:spPr>
          <a:xfrm rot="10800000">
            <a:off x="3574132" y="2492896"/>
            <a:ext cx="2340260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A6A783F6-732D-6A30-0EC6-8B7D3E55E30F}"/>
              </a:ext>
            </a:extLst>
          </p:cNvPr>
          <p:cNvSpPr/>
          <p:nvPr/>
        </p:nvSpPr>
        <p:spPr>
          <a:xfrm>
            <a:off x="1341888" y="1700808"/>
            <a:ext cx="2895136" cy="21568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PUBLIC</a:t>
            </a:r>
          </a:p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SECTOR</a:t>
            </a:r>
          </a:p>
          <a:p>
            <a:pPr algn="ctr"/>
            <a:r>
              <a:rPr lang="en-IN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BANKS</a:t>
            </a:r>
          </a:p>
          <a:p>
            <a:pPr algn="ctr"/>
            <a:r>
              <a:rPr lang="en-IN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e.g. SBI, Indian bank,  Uco bank</a:t>
            </a:r>
            <a:endParaRPr lang="en-I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xmlns="" id="{9895C6F4-DE21-153D-F8F4-D797E05B3E02}"/>
              </a:ext>
            </a:extLst>
          </p:cNvPr>
          <p:cNvCxnSpPr>
            <a:stCxn id="15" idx="4"/>
          </p:cNvCxnSpPr>
          <p:nvPr/>
        </p:nvCxnSpPr>
        <p:spPr>
          <a:xfrm rot="16200000" flipH="1">
            <a:off x="6809193" y="1094039"/>
            <a:ext cx="1342746" cy="31323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xmlns="" id="{DF6B9512-3691-5F05-D519-F6056F90B65C}"/>
              </a:ext>
            </a:extLst>
          </p:cNvPr>
          <p:cNvCxnSpPr>
            <a:cxnSpLocks/>
          </p:cNvCxnSpPr>
          <p:nvPr/>
        </p:nvCxnSpPr>
        <p:spPr>
          <a:xfrm rot="5400000">
            <a:off x="3016068" y="2161451"/>
            <a:ext cx="3456386" cy="2340273"/>
          </a:xfrm>
          <a:prstGeom prst="bentConnector3">
            <a:avLst>
              <a:gd name="adj1" fmla="val 1416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xmlns="" id="{BBD96967-2745-287D-0F0F-26AB56BEDB27}"/>
              </a:ext>
            </a:extLst>
          </p:cNvPr>
          <p:cNvSpPr/>
          <p:nvPr/>
        </p:nvSpPr>
        <p:spPr>
          <a:xfrm>
            <a:off x="8594742" y="2000240"/>
            <a:ext cx="2969428" cy="24236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PRIVATE</a:t>
            </a:r>
          </a:p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SECTOR</a:t>
            </a:r>
          </a:p>
          <a:p>
            <a:pPr algn="ctr"/>
            <a:r>
              <a:rPr lang="en-IN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BANKS</a:t>
            </a:r>
          </a:p>
          <a:p>
            <a:pPr algn="ctr"/>
            <a:r>
              <a:rPr lang="en-IN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e.g. Axis bank, ICICI bank, HDFC bank</a:t>
            </a:r>
            <a:endParaRPr lang="en-I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xmlns="" id="{B3EE788B-25A3-6A23-DBAE-1944D8E4690D}"/>
              </a:ext>
            </a:extLst>
          </p:cNvPr>
          <p:cNvSpPr/>
          <p:nvPr/>
        </p:nvSpPr>
        <p:spPr>
          <a:xfrm>
            <a:off x="1098664" y="4221087"/>
            <a:ext cx="3495550" cy="21368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REGIONAL RURAL</a:t>
            </a:r>
            <a:endParaRPr lang="en-I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BANKS</a:t>
            </a:r>
          </a:p>
          <a:p>
            <a:pPr algn="ctr"/>
            <a:r>
              <a:rPr lang="en-IN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e.g. </a:t>
            </a:r>
            <a:r>
              <a:rPr lang="en-US" sz="2000" dirty="0" smtClean="0">
                <a:solidFill>
                  <a:schemeClr val="tx1"/>
                </a:solidFill>
              </a:rPr>
              <a:t>Nagaland Rural </a:t>
            </a:r>
            <a:r>
              <a:rPr lang="en-US" sz="2000" dirty="0" smtClean="0">
                <a:solidFill>
                  <a:schemeClr val="tx1"/>
                </a:solidFill>
              </a:rPr>
              <a:t>Bank, </a:t>
            </a:r>
            <a:r>
              <a:rPr lang="en-US" sz="2000" u="sng" dirty="0" smtClean="0">
                <a:solidFill>
                  <a:schemeClr val="tx1"/>
                </a:solidFill>
                <a:hlinkClick r:id="rId3"/>
              </a:rPr>
              <a:t/>
            </a:r>
            <a:br>
              <a:rPr lang="en-US" sz="2000" u="sng" dirty="0" smtClean="0">
                <a:solidFill>
                  <a:schemeClr val="tx1"/>
                </a:solidFill>
                <a:hlinkClick r:id="rId3"/>
              </a:rPr>
            </a:br>
            <a:r>
              <a:rPr lang="en-US" sz="2000" dirty="0" smtClean="0">
                <a:solidFill>
                  <a:schemeClr val="tx1"/>
                </a:solidFill>
              </a:rPr>
              <a:t>Odisa Gramya Bank</a:t>
            </a:r>
            <a:endParaRPr lang="en-I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20115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CB9DB1-7CFD-DEC8-B6BA-4F1DA5B7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                       </a:t>
            </a:r>
          </a:p>
        </p:txBody>
      </p:sp>
      <p:pic>
        <p:nvPicPr>
          <p:cNvPr id="11" name="Content Placeholder 10" descr="6395-02-banking-powerpoint-template-1.jpg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88825" cy="6858000"/>
          </a:xfrm>
        </p:spPr>
      </p:pic>
      <p:sp>
        <p:nvSpPr>
          <p:cNvPr id="12" name="TextBox 11"/>
          <p:cNvSpPr txBox="1"/>
          <p:nvPr/>
        </p:nvSpPr>
        <p:spPr>
          <a:xfrm>
            <a:off x="522248" y="642918"/>
            <a:ext cx="8286808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6000" dirty="0" smtClean="0">
                <a:latin typeface="Calibri" pitchFamily="34" charset="0"/>
                <a:cs typeface="Calibri" pitchFamily="34" charset="0"/>
              </a:rPr>
              <a:t>Data </a:t>
            </a:r>
            <a:r>
              <a:rPr lang="en-IN" sz="6000" dirty="0" smtClean="0">
                <a:latin typeface="Calibri" pitchFamily="34" charset="0"/>
                <a:cs typeface="Calibri" pitchFamily="34" charset="0"/>
              </a:rPr>
              <a:t>c</a:t>
            </a:r>
            <a:r>
              <a:rPr lang="en-IN" sz="6000" dirty="0" smtClean="0">
                <a:latin typeface="Calibri" pitchFamily="34" charset="0"/>
                <a:cs typeface="Calibri" pitchFamily="34" charset="0"/>
              </a:rPr>
              <a:t>ollection</a:t>
            </a:r>
            <a:endParaRPr lang="en-US" sz="6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3686" y="2428868"/>
            <a:ext cx="1121576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ASSETS AND REVENUES OF VARIOUS COMMERCIAL BANKS</a:t>
            </a:r>
          </a:p>
          <a:p>
            <a:pPr>
              <a:buFont typeface="Wingdings" pitchFamily="2" charset="2"/>
              <a:buChar char="Ø"/>
            </a:pPr>
            <a:endParaRPr lang="en-IN" sz="2800" b="1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BRANCHES ACROSS INDIA</a:t>
            </a:r>
          </a:p>
          <a:p>
            <a:endParaRPr lang="en-IN" sz="2800" b="1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GOVERNMENT SHARE HOLDING IN PUBLIC SECTOR BANKS</a:t>
            </a:r>
          </a:p>
          <a:p>
            <a:r>
              <a:rPr lang="en-IN" sz="2800" b="1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LOCATION OF HEADQUARTERS IN INDIA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77460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                      </a:t>
            </a:r>
            <a:r>
              <a:rPr lang="en-US" b="1" dirty="0">
                <a:ln w="0"/>
                <a:solidFill>
                  <a:schemeClr val="tx2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PUBLIC SECTOR BANKS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83A18CFB-1AA3-CA82-CCD7-F81C129CF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0"/>
            <a:ext cx="12201098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8A446DF-ACFB-5B88-0C14-D04E32AFB8B8}"/>
              </a:ext>
            </a:extLst>
          </p:cNvPr>
          <p:cNvSpPr txBox="1"/>
          <p:nvPr/>
        </p:nvSpPr>
        <p:spPr>
          <a:xfrm>
            <a:off x="2133972" y="1857364"/>
            <a:ext cx="91450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3600" b="1" i="1" dirty="0"/>
          </a:p>
          <a:p>
            <a:pPr>
              <a:buFont typeface="Wingdings" pitchFamily="2" charset="2"/>
              <a:buChar char="Ø"/>
            </a:pPr>
            <a:r>
              <a:rPr lang="en-IN" sz="3600" b="1" i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Association between assets and revenue of the </a:t>
            </a:r>
            <a:r>
              <a:rPr lang="en-IN" sz="3600" b="1" i="1" dirty="0" smtClean="0">
                <a:solidFill>
                  <a:schemeClr val="tx2">
                    <a:lumMod val="95000"/>
                    <a:lumOff val="5000"/>
                  </a:schemeClr>
                </a:solidFill>
              </a:rPr>
              <a:t>bank</a:t>
            </a:r>
          </a:p>
          <a:p>
            <a:pPr>
              <a:buFont typeface="Wingdings" pitchFamily="2" charset="2"/>
              <a:buChar char="Ø"/>
            </a:pPr>
            <a:r>
              <a:rPr lang="en-IN" sz="3600" b="1" i="1" dirty="0" smtClean="0">
                <a:solidFill>
                  <a:schemeClr val="tx2">
                    <a:lumMod val="95000"/>
                    <a:lumOff val="5000"/>
                  </a:schemeClr>
                </a:solidFill>
              </a:rPr>
              <a:t>Government share in the banks</a:t>
            </a:r>
            <a:endParaRPr lang="en-IN" sz="3600" b="1" i="1" dirty="0">
              <a:solidFill>
                <a:schemeClr val="tx2">
                  <a:lumMod val="95000"/>
                  <a:lumOff val="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3600" b="1" i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Reason behind the geographical location of  </a:t>
            </a:r>
            <a:r>
              <a:rPr lang="en-IN" sz="3600" b="1" i="1" dirty="0" smtClean="0">
                <a:solidFill>
                  <a:schemeClr val="tx2">
                    <a:lumMod val="95000"/>
                    <a:lumOff val="5000"/>
                  </a:schemeClr>
                </a:solidFill>
              </a:rPr>
              <a:t>headquarters</a:t>
            </a:r>
            <a:endParaRPr lang="en-IN" sz="3600" b="1" i="1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17604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45427A7D-9E44-927F-6F17-171651B15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" y="0"/>
            <a:ext cx="12188825" cy="6858000"/>
          </a:xfrm>
        </p:spPr>
      </p:pic>
    </p:spTree>
    <p:extLst>
      <p:ext uri="{BB962C8B-B14F-4D97-AF65-F5344CB8AC3E}">
        <p14:creationId xmlns:p14="http://schemas.microsoft.com/office/powerpoint/2010/main" xmlns="" val="2193902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Assets </a:t>
            </a:r>
            <a:r>
              <a:rPr lang="en-IN" dirty="0" err="1" smtClean="0"/>
              <a:t>vs</a:t>
            </a:r>
            <a:r>
              <a:rPr lang="en-IN" dirty="0" smtClean="0"/>
              <a:t> Revenues of Public </a:t>
            </a:r>
            <a:r>
              <a:rPr lang="en-IN" dirty="0" smtClean="0"/>
              <a:t>S</a:t>
            </a:r>
            <a:r>
              <a:rPr lang="en-IN" dirty="0" smtClean="0"/>
              <a:t>ector </a:t>
            </a:r>
            <a:r>
              <a:rPr lang="en-IN" dirty="0" smtClean="0"/>
              <a:t>B</a:t>
            </a:r>
            <a:r>
              <a:rPr lang="en-IN" dirty="0" smtClean="0"/>
              <a:t>anks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12188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665520" y="2857496"/>
            <a:ext cx="4286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Assets = 58503 + 12.53 Revenues</a:t>
            </a:r>
          </a:p>
          <a:p>
            <a:r>
              <a:rPr lang="en-IN" dirty="0" smtClean="0"/>
              <a:t>R- Sq =99.8%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674D593-BB89-C707-083D-B7FC5CE91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" y="0"/>
            <a:ext cx="12188825" cy="6957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-24"/>
            <a:ext cx="3308330" cy="2308324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Location of Headquarters of Public Sector Banks in India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xmlns="" val="3624815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FCF928-3564-126B-B225-DC8E5875B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PRIVATE SECTOR BANKS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7CE7A8F-464E-7A7E-09AB-A175AF08D6C1}"/>
              </a:ext>
            </a:extLst>
          </p:cNvPr>
          <p:cNvSpPr txBox="1"/>
          <p:nvPr/>
        </p:nvSpPr>
        <p:spPr>
          <a:xfrm>
            <a:off x="1989956" y="2348880"/>
            <a:ext cx="93622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Why the private sector banks are deprived of assets and revenues as of public sector banks  ??</a:t>
            </a:r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1EB7BDE-E162-1078-2F14-B89D970F1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-1000"/>
                    </a14:imgEffect>
                    <a14:imgEffect>
                      <a14:brightnessContrast bright="-28000" contrast="-5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71462"/>
            <a:ext cx="12188824" cy="6929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glow>
              <a:schemeClr val="accent1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AB995B7-821F-309F-21D8-3B6734C0BCA6}"/>
              </a:ext>
            </a:extLst>
          </p:cNvPr>
          <p:cNvSpPr txBox="1"/>
          <p:nvPr/>
        </p:nvSpPr>
        <p:spPr>
          <a:xfrm>
            <a:off x="549796" y="2714620"/>
            <a:ext cx="1123324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4000" b="1" i="1" dirty="0">
                <a:ln w="0"/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the </a:t>
            </a:r>
            <a:r>
              <a:rPr lang="en-IN" sz="4000" b="1" i="1" dirty="0" smtClean="0">
                <a:ln w="0"/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</a:t>
            </a:r>
            <a:r>
              <a:rPr lang="en-IN" sz="4000" b="1" i="1" dirty="0" smtClean="0">
                <a:ln w="0"/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rivate </a:t>
            </a:r>
            <a:r>
              <a:rPr lang="en-IN" sz="4000" b="1" i="1" dirty="0">
                <a:ln w="0"/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sector banks are deprived of assets and revenues as of public sector banks </a:t>
            </a:r>
            <a:r>
              <a:rPr lang="en-IN" sz="4000" b="1" i="1" dirty="0" smtClean="0">
                <a:ln w="0"/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  <a:p>
            <a:pPr>
              <a:buFont typeface="Wingdings" pitchFamily="2" charset="2"/>
              <a:buChar char="Ø"/>
            </a:pPr>
            <a:r>
              <a:rPr lang="en-IN" sz="4000" b="1" i="1" dirty="0" smtClean="0">
                <a:ln w="0"/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Geographical location of headquarters</a:t>
            </a:r>
          </a:p>
          <a:p>
            <a:pPr>
              <a:buFont typeface="Wingdings" pitchFamily="2" charset="2"/>
              <a:buChar char="Ø"/>
            </a:pPr>
            <a:r>
              <a:rPr lang="en-IN" sz="4000" b="1" i="1" dirty="0" smtClean="0">
                <a:ln w="0"/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Number of branches of various private sector banks across India</a:t>
            </a:r>
            <a:endParaRPr lang="en-IN" sz="4000" b="1" i="1" dirty="0">
              <a:ln w="0"/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5124" y="571480"/>
            <a:ext cx="8786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itchFamily="34" charset="0"/>
              </a:rPr>
              <a:t>Private Sector Banks</a:t>
            </a:r>
            <a:endParaRPr lang="en-US" sz="4800" dirty="0">
              <a:solidFill>
                <a:schemeClr val="accent1">
                  <a:lumMod val="40000"/>
                  <a:lumOff val="60000"/>
                </a:schemeClr>
              </a:solidFill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83709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602297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22973" y="0"/>
            <a:ext cx="616585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444006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- 3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88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665388" y="1357298"/>
            <a:ext cx="4572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Assets = -3995 + 11.58 Revenues</a:t>
            </a:r>
          </a:p>
          <a:p>
            <a:r>
              <a:rPr lang="en-IN" dirty="0" smtClean="0"/>
              <a:t>R-Sq = 98.8%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866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917EE5-EDD7-C9C2-A342-7CAE174A5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8F36318-EF79-675D-23EB-A01955EDA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5"/>
            <a:ext cx="12188825" cy="6857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2736826" cy="156966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Location of Private Sector Banks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1619608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88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19C0A95-9DDD-886F-72A0-DEC19538B85E}"/>
              </a:ext>
            </a:extLst>
          </p:cNvPr>
          <p:cNvSpPr txBox="1"/>
          <p:nvPr/>
        </p:nvSpPr>
        <p:spPr>
          <a:xfrm>
            <a:off x="1701924" y="548680"/>
            <a:ext cx="7704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i="1" dirty="0"/>
              <a:t>               Regional Rural Banks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2655AC4-AF3D-BAEC-7BB0-B097EA018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7000"/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-52000"/>
                    </a14:imgEffect>
                    <a14:imgEffect>
                      <a14:saturation sat="123000"/>
                    </a14:imgEffect>
                    <a14:imgEffect>
                      <a14:brightnessContrast bright="18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" y="-25152"/>
            <a:ext cx="1218882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EBD1776-CE80-F6D5-B3F8-EA7BA371CF1C}"/>
              </a:ext>
            </a:extLst>
          </p:cNvPr>
          <p:cNvSpPr txBox="1"/>
          <p:nvPr/>
        </p:nvSpPr>
        <p:spPr>
          <a:xfrm>
            <a:off x="477788" y="561661"/>
            <a:ext cx="10369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smtClean="0"/>
              <a:t>      Regional </a:t>
            </a:r>
            <a:r>
              <a:rPr lang="en-IN" sz="3600" b="1" dirty="0"/>
              <a:t>Rural Banks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0111A05-0C60-FD91-BBC8-80A04F77D498}"/>
              </a:ext>
            </a:extLst>
          </p:cNvPr>
          <p:cNvSpPr txBox="1"/>
          <p:nvPr/>
        </p:nvSpPr>
        <p:spPr>
          <a:xfrm>
            <a:off x="1053852" y="2204864"/>
            <a:ext cx="105851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600" b="1" dirty="0"/>
              <a:t>Reason behind spreading all over the India</a:t>
            </a:r>
          </a:p>
          <a:p>
            <a:r>
              <a:rPr lang="en-IN" sz="3600" b="1" dirty="0"/>
              <a:t>(almost every state</a:t>
            </a:r>
            <a:r>
              <a:rPr lang="en-IN" sz="3600" b="1" dirty="0" smtClean="0"/>
              <a:t>)</a:t>
            </a:r>
          </a:p>
          <a:p>
            <a:endParaRPr lang="en-IN" sz="3600" b="1" dirty="0" smtClean="0"/>
          </a:p>
          <a:p>
            <a:pPr>
              <a:buFont typeface="Wingdings" pitchFamily="2" charset="2"/>
              <a:buChar char="Ø"/>
            </a:pPr>
            <a:r>
              <a:rPr lang="en-IN" sz="3600" b="1" dirty="0" smtClean="0"/>
              <a:t>Branch distribution of RRB</a:t>
            </a:r>
          </a:p>
          <a:p>
            <a:endParaRPr lang="en-IN" sz="3600" b="1" dirty="0" smtClean="0"/>
          </a:p>
          <a:p>
            <a:pPr>
              <a:buFont typeface="Wingdings" pitchFamily="2" charset="2"/>
              <a:buChar char="Ø"/>
            </a:pPr>
            <a:r>
              <a:rPr lang="en-IN" sz="3600" b="1" dirty="0" smtClean="0"/>
              <a:t>Share of assets in RRB</a:t>
            </a:r>
          </a:p>
          <a:p>
            <a:pPr>
              <a:buFont typeface="Wingdings" pitchFamily="2" charset="2"/>
              <a:buChar char="Ø"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xmlns="" val="3216253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73F956A-F602-9892-B496-A141CF8F1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2665388" cy="206210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Location of HQ of Regional Rural Banks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1147939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12188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559158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88825" cy="684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266471.jpg"/>
          <p:cNvPicPr>
            <a:picLocks noChangeAspect="1"/>
          </p:cNvPicPr>
          <p:nvPr/>
        </p:nvPicPr>
        <p:blipFill>
          <a:blip r:embed="rId2">
            <a:lum bright="8000"/>
          </a:blip>
          <a:stretch>
            <a:fillRect/>
          </a:stretch>
        </p:blipFill>
        <p:spPr>
          <a:xfrm>
            <a:off x="0" y="0"/>
            <a:ext cx="12380956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51140" y="2786058"/>
            <a:ext cx="7358114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4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SHINY APP (GROUP -15)</a:t>
            </a:r>
            <a:endParaRPr lang="en-US" sz="4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77046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analysis-of-commercial-banks-of-india-personal-microsoft-edge-2023-11-09-00-4_z6N6VtiY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-24"/>
            <a:ext cx="1218882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            ACKNOWLEDGEMENT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36694" y="2285992"/>
            <a:ext cx="10001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We would like to express our gratitude to </a:t>
            </a:r>
            <a:r>
              <a:rPr lang="en-IN" sz="2800" i="1" u="sng" dirty="0" smtClean="0"/>
              <a:t>Dr. </a:t>
            </a:r>
            <a:r>
              <a:rPr lang="en-IN" sz="2800" i="1" u="sng" dirty="0" err="1" smtClean="0"/>
              <a:t>Dootika</a:t>
            </a:r>
            <a:r>
              <a:rPr lang="en-IN" sz="2800" i="1" u="sng" dirty="0" smtClean="0"/>
              <a:t> Vats </a:t>
            </a:r>
            <a:r>
              <a:rPr lang="en-IN" sz="2800" dirty="0" smtClean="0"/>
              <a:t>for her contribution to the completion of the project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3-11-09 at 09.47.30_521dff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8882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8000" y="714356"/>
            <a:ext cx="3071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 smtClean="0">
                <a:solidFill>
                  <a:schemeClr val="bg1"/>
                </a:solidFill>
              </a:rPr>
              <a:t>THANK YOU!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66180" y="5286388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>
                <a:solidFill>
                  <a:schemeClr val="bg1"/>
                </a:solidFill>
              </a:rPr>
              <a:t>GROUP -15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ER_VERSION" val="6"/>
  <p:tag name="ARTICULATE_PROJECT_OPEN" val="0"/>
</p:tagLst>
</file>

<file path=ppt/theme/theme1.xml><?xml version="1.0" encoding="utf-8"?>
<a:theme xmlns:a="http://schemas.openxmlformats.org/drawingml/2006/main" name="Currency Symbols 16x9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urrency symbols presentation (widescreen).potx" id="{0BEEB329-2C4D-4D02-9858-CA91ACE92AB1}" vid="{944DA297-E844-470D-A85C-00068074ACC2}"/>
    </a:ext>
  </a:extLst>
</a:theme>
</file>

<file path=ppt/theme/theme2.xml><?xml version="1.0" encoding="utf-8"?>
<a:theme xmlns:a="http://schemas.openxmlformats.org/drawingml/2006/main" name="Office Them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Currency symbols presentation (widescreen)</Template>
  <TotalTime>305</TotalTime>
  <Words>290</Words>
  <Application>Microsoft Office PowerPoint</Application>
  <PresentationFormat>Custom</PresentationFormat>
  <Paragraphs>64</Paragraphs>
  <Slides>20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Currency Symbols 16x9</vt:lpstr>
      <vt:lpstr>Slide 1</vt:lpstr>
      <vt:lpstr>Slide 2</vt:lpstr>
      <vt:lpstr>                                                      </vt:lpstr>
      <vt:lpstr>                       PUBLIC SECTOR BANKS</vt:lpstr>
      <vt:lpstr>Slide 5</vt:lpstr>
      <vt:lpstr>Assets vs Revenues of Public Sector Banks</vt:lpstr>
      <vt:lpstr>Slide 7</vt:lpstr>
      <vt:lpstr>                     PRIVATE SECTOR BANKS</vt:lpstr>
      <vt:lpstr>Add a Slide Title - 1</vt:lpstr>
      <vt:lpstr>Add a Slide Title - 3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                   ACKNOWLEDGEMENT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Adithya Lingala</dc:creator>
  <cp:lastModifiedBy>souhardya mitra</cp:lastModifiedBy>
  <cp:revision>19</cp:revision>
  <dcterms:created xsi:type="dcterms:W3CDTF">2023-11-08T18:38:36Z</dcterms:created>
  <dcterms:modified xsi:type="dcterms:W3CDTF">2023-11-09T05:35:55Z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